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D4AF0"/>
            </a:solidFill>
          </c:spPr>
          <c:cat>
            <c:strRef>
              <c:f>Sheet1!$A$2:$A$7</c:f>
              <c:strCache>
                <c:ptCount val="6"/>
                <c:pt idx="0">
                  <c:v>DNN (MLP)</c:v>
                </c:pt>
                <c:pt idx="1">
                  <c:v>SVM</c:v>
                </c:pt>
                <c:pt idx="2">
                  <c:v>LogReg</c:v>
                </c:pt>
                <c:pt idx="3">
                  <c:v>Naive Bayes</c:v>
                </c:pt>
                <c:pt idx="4">
                  <c:v>Rand. Forest</c:v>
                </c:pt>
                <c:pt idx="5">
                  <c:v>Grad. Boosting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89.48</c:v>
                </c:pt>
                <c:pt idx="1">
                  <c:v>89.38</c:v>
                </c:pt>
                <c:pt idx="2">
                  <c:v>89.22</c:v>
                </c:pt>
                <c:pt idx="3">
                  <c:v>86.33</c:v>
                </c:pt>
                <c:pt idx="4">
                  <c:v>85.6</c:v>
                </c:pt>
                <c:pt idx="5">
                  <c:v>84.41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(positive class)</c:v>
                </c:pt>
              </c:strCache>
            </c:strRef>
          </c:tx>
          <c:spPr>
            <a:solidFill>
              <a:srgbClr val="0891B2"/>
            </a:solidFill>
          </c:spPr>
          <c:cat>
            <c:strRef>
              <c:f>Sheet1!$A$2:$A$7</c:f>
              <c:strCache>
                <c:ptCount val="6"/>
                <c:pt idx="0">
                  <c:v>DNN (MLP)</c:v>
                </c:pt>
                <c:pt idx="1">
                  <c:v>SVM</c:v>
                </c:pt>
                <c:pt idx="2">
                  <c:v>LogReg</c:v>
                </c:pt>
                <c:pt idx="3">
                  <c:v>Naive Bayes</c:v>
                </c:pt>
                <c:pt idx="4">
                  <c:v>Rand. Forest</c:v>
                </c:pt>
                <c:pt idx="5">
                  <c:v>Grad. Boosting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89.48</c:v>
                </c:pt>
                <c:pt idx="1">
                  <c:v>89.31</c:v>
                </c:pt>
                <c:pt idx="2">
                  <c:v>89.25</c:v>
                </c:pt>
                <c:pt idx="3">
                  <c:v>86.05</c:v>
                </c:pt>
                <c:pt idx="4">
                  <c:v>85.35</c:v>
                </c:pt>
                <c:pt idx="5">
                  <c:v>84.82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0"/>
          <c:min val="75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3291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A5B4FC"/>
                </a:solidFill>
                <a:latin typeface="Segoe UI"/>
              </a:rPr>
              <a:t>CINESENTINEL AI  ·  IMDb SENTIMENT INTELLIGENCE LAB</a:t>
            </a:r>
          </a:p>
          <a:p>
            <a:pPr algn="l">
              <a:spcAft>
                <a:spcPts val="14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Machine Learning-Based Classification for Sentiment Analysis of IMDb Reviews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C7D2FE"/>
                </a:solidFill>
                <a:latin typeface="Segoe UI"/>
              </a:rPr>
              <a:t>UE24CS352A — Machine Learning  · 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7E8F9"/>
                </a:solidFill>
                <a:latin typeface="Segoe UI"/>
              </a:rPr>
              <a:t>Team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[Team member 1 — SRN]     [Team member 2 — SRN]     [Team member 3 — SRN]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2FE"/>
                </a:solidFill>
                <a:latin typeface="Segoe UI"/>
              </a:rPr>
              <a:t>[Section / Guide /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1B4B"/>
                </a:solidFill>
                <a:latin typeface="Segoe UI"/>
              </a:rPr>
              <a:t>Problem statement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0584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CineSentinel AI  ·  UE24CS352A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30352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301625" indent="-301625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Segoe UI"/>
              </a:rPr>
              <a:t>•	Decide whether an IMDb movie review is positive or negative</a:t>
            </a:r>
          </a:p>
          <a:p>
            <a:pPr algn="l" marL="301625" indent="-301625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Segoe UI"/>
              </a:rPr>
              <a:t>•	Document-level binary text classification</a:t>
            </a:r>
          </a:p>
          <a:p>
            <a:pPr algn="l" marL="301625" indent="-301625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Segoe UI"/>
              </a:rPr>
              <a:t>•	Reference: Wu &amp; Shin (Stanford CS229) compare six classifier families on this task</a:t>
            </a:r>
          </a:p>
          <a:p>
            <a:pPr algn="l" marL="301625" indent="-301625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Segoe UI"/>
              </a:rPr>
              <a:t>•	Question: how do the six compare in accuracy and in training cost?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301625" indent="-301625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Segoe UI"/>
              </a:rPr>
              <a:t>•	Reproducible pipeline: data → cleaning → features → training → evaluation</a:t>
            </a:r>
          </a:p>
          <a:p>
            <a:pPr algn="l" marL="301625" indent="-301625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Segoe UI"/>
              </a:rPr>
              <a:t>•	Train six classifiers on identical features</a:t>
            </a:r>
          </a:p>
          <a:p>
            <a:pPr algn="l" marL="301625" indent="-301625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Segoe UI"/>
              </a:rPr>
              <a:t>•	Evaluate with standard metrics on the official held-out test split</a:t>
            </a:r>
          </a:p>
          <a:p>
            <a:pPr algn="l" marL="301625" indent="-301625">
              <a:spcAft>
                <a:spcPts val="1200"/>
              </a:spcAft>
            </a:pPr>
            <a:r>
              <a:rPr sz="1900" b="0">
                <a:solidFill>
                  <a:srgbClr val="1F2937"/>
                </a:solidFill>
                <a:latin typeface="Segoe UI"/>
              </a:rPr>
              <a:t>•	Interactive app: live prediction, model comparison, batch CSV scoring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1B4B"/>
                </a:solidFill>
                <a:latin typeface="Segoe UI"/>
              </a:rPr>
              <a:t>Dataset and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0584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CineSentinel AI  ·  UE24CS352A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51760" cy="114300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26517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E1B4B"/>
                </a:solidFill>
                <a:latin typeface="Segoe UI"/>
              </a:rPr>
              <a:t>50,000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labelled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371600"/>
            <a:ext cx="2651760" cy="114300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426464"/>
            <a:ext cx="26517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E1B4B"/>
                </a:solidFill>
                <a:latin typeface="Segoe UI"/>
              </a:rPr>
              <a:t>25k / 25k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official train / test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651760" cy="114300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1344" y="1426464"/>
            <a:ext cx="26517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E1B4B"/>
                </a:solidFill>
                <a:latin typeface="Segoe UI"/>
              </a:rPr>
              <a:t>50% / 50%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positive / negative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371600"/>
            <a:ext cx="2651760" cy="114300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1426464"/>
            <a:ext cx="26517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E1B4B"/>
                </a:solidFill>
                <a:latin typeface="Segoe UI"/>
              </a:rPr>
              <a:t>174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median words per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Stanford Large Movie Review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530352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8125" indent="-238125"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Positive = rating ≥ 7, negative = rating ≤ 4</a:t>
            </a:r>
          </a:p>
          <a:p>
            <a:pPr algn="l" marL="238125" indent="-238125"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Official split used unchanged; test split used only for final evaluation</a:t>
            </a:r>
          </a:p>
          <a:p>
            <a:pPr algn="l" marL="238125" indent="-238125"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123 test reviews (0.49%) also occur in train — a property of the public data, left in place and disclosed</a:t>
            </a:r>
          </a:p>
          <a:p>
            <a:pPr algn="l" marL="238125" indent="-238125"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Content verified identical to the official Stanford archive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Preprocessing and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530352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8125" indent="-238125"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Strip HTML → lowercase → remove punctuation and digits</a:t>
            </a:r>
          </a:p>
          <a:p>
            <a:pPr algn="l" marL="238125" indent="-238125"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Remove stop words → lemmatize (NLTK)</a:t>
            </a:r>
          </a:p>
          <a:p>
            <a:pPr algn="l" marL="238125" indent="-238125"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TF-IDF, unigrams + bigrams, 50,000 terms</a:t>
            </a:r>
          </a:p>
          <a:p>
            <a:pPr algn="l" marL="238125" indent="-238125"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Vectorizer fitted on the training split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1B4B"/>
                </a:solidFill>
                <a:latin typeface="Segoe UI"/>
              </a:rPr>
              <a:t>Methodology and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0584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CineSentinel AI  ·  UE24CS352A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Offline: training and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2579" y="1783080"/>
            <a:ext cx="1965960" cy="9601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579" y="1783080"/>
            <a:ext cx="196596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Dataset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25k train / 25k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7723" y="1783080"/>
            <a:ext cx="1965960" cy="9601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7723" y="1783080"/>
            <a:ext cx="196596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Cleaning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preprocessing.py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2867" y="1783080"/>
            <a:ext cx="1965960" cy="9601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2867" y="1783080"/>
            <a:ext cx="196596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TF-IDF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features.py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8011" y="1783080"/>
            <a:ext cx="1965960" cy="9601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8011" y="1783080"/>
            <a:ext cx="196596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Training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train.py · six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03155" y="1783080"/>
            <a:ext cx="1965960" cy="9601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03155" y="1783080"/>
            <a:ext cx="196596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Evaluation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evaluate.py · test split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88539" y="2263140"/>
            <a:ext cx="329184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83683" y="2263140"/>
            <a:ext cx="329184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78827" y="2263140"/>
            <a:ext cx="329184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73971" y="2263140"/>
            <a:ext cx="329184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06324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Online: Streamlit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7723" y="3520440"/>
            <a:ext cx="1965960" cy="960120"/>
          </a:xfrm>
          <a:prstGeom prst="roundRect">
            <a:avLst>
              <a:gd name="adj" fmla="val 9000"/>
            </a:avLst>
          </a:prstGeom>
          <a:solidFill>
            <a:srgbClr val="1E1B4B"/>
          </a:solidFill>
          <a:ln w="12700">
            <a:solidFill>
              <a:srgbClr val="1E1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17723" y="3520440"/>
            <a:ext cx="196596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Saved files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models +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2867" y="3520440"/>
            <a:ext cx="1965960" cy="960120"/>
          </a:xfrm>
          <a:prstGeom prst="roundRect">
            <a:avLst>
              <a:gd name="adj" fmla="val 9000"/>
            </a:avLst>
          </a:prstGeom>
          <a:solidFill>
            <a:srgbClr val="1E1B4B"/>
          </a:solidFill>
          <a:ln w="12700">
            <a:solidFill>
              <a:srgbClr val="1E1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12867" y="3520440"/>
            <a:ext cx="196596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Inference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predict.py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8011" y="3520440"/>
            <a:ext cx="1965960" cy="960120"/>
          </a:xfrm>
          <a:prstGeom prst="roundRect">
            <a:avLst>
              <a:gd name="adj" fmla="val 9000"/>
            </a:avLst>
          </a:prstGeom>
          <a:solidFill>
            <a:srgbClr val="1E1B4B"/>
          </a:solidFill>
          <a:ln w="12700">
            <a:solidFill>
              <a:srgbClr val="1E1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8011" y="3520440"/>
            <a:ext cx="196596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Dashboard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5 pages · Plotly charts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83683" y="4000500"/>
            <a:ext cx="329184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78827" y="4000500"/>
            <a:ext cx="329184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2250" indent="-222250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	All six models share one feature matrix, so the comparison is like-for-like</a:t>
            </a:r>
          </a:p>
          <a:p>
            <a:pPr algn="l" marL="222250" indent="-222250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	Model selection uses training data only (cross-validation, validation split); the test split is evaluated once</a:t>
            </a:r>
          </a:p>
          <a:p>
            <a:pPr algn="l" marL="222250" indent="-222250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	The dashboard reads saved metrics files — no figure is typed into the app. Runs on a laptop CPU, no GPU or paid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1B4B"/>
                </a:solidFill>
                <a:latin typeface="Segoe UI"/>
              </a:rPr>
              <a:t>Six machine-learning classifiers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0584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CineSentinel AI  ·  UE24CS352A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9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417"/>
                <a:gridCol w="1659636"/>
                <a:gridCol w="6749186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Family</a:t>
                      </a:r>
                    </a:p>
                  </a:txBody>
                  <a:tcPr marL="73152" marR="73152" marT="27432" marB="27432"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Key settings</a:t>
                      </a:r>
                    </a:p>
                  </a:txBody>
                  <a:tcPr marL="73152" marR="73152" marT="27432" marB="27432" anchor="ctr">
                    <a:solidFill>
                      <a:srgbClr val="1E1B4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Linear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L2 penalty; C from {0.01, 0.05, 0.25, 0.5, 1} by 3-fold CV → C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Linear SVM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Linear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L2 penalty; same C grid → C = 0.25; Platt-calibrated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Multinomial Naive Bayes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Probabilistic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Laplace smoothing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Tree ensemble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100 trees, Gini criterion, no depth limit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Gradient Boosting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Tree ensemble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270 trees (chosen on validation data), learning rate 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Neural network (MLPClassifier)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Neural network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hidden layers (30, 30, 20, 10, 10), logistic activation, Adam, early stopping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2250" indent="-222250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	Settings follow §3.3 of the reference paper, except the Gradient Boosting tree count</a:t>
            </a:r>
          </a:p>
          <a:p>
            <a:pPr algn="l" marL="222250" indent="-222250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	The SVM is Platt-calibrated so that it can report a probability rather than a raw decision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1B4B"/>
                </a:solidFill>
                <a:latin typeface="Segoe UI"/>
              </a:rPr>
              <a:t>Experimental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0584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CineSentinel AI  ·  UE24CS352A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280160"/>
          <a:ext cx="5669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371600"/>
          <a:ext cx="5349237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294"/>
                <a:gridCol w="748893"/>
                <a:gridCol w="748893"/>
                <a:gridCol w="802386"/>
                <a:gridCol w="748893"/>
                <a:gridCol w="85587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Acc.</a:t>
                      </a:r>
                    </a:p>
                  </a:txBody>
                  <a:tcPr marL="73152" marR="73152" marT="27432" marB="27432"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Prec.</a:t>
                      </a:r>
                    </a:p>
                  </a:txBody>
                  <a:tcPr marL="73152" marR="73152" marT="27432" marB="27432"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 marL="73152" marR="73152" marT="27432" marB="27432"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Train</a:t>
                      </a:r>
                    </a:p>
                  </a:txBody>
                  <a:tcPr marL="73152" marR="73152" marT="27432" marB="27432" anchor="ctr"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DNN (MLP)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239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SVM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89.38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89.88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88.74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89.31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3.4 s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LogReg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89.25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8.4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Naive Bayes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86.33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87.87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84.30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86.05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0.1 s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Rand. Forest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85.60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86.84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83.91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85.35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72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Grad. Boosting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84.41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82.65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87.10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84.82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477 s</a:t>
                      </a:r>
                    </a:p>
                  </a:txBody>
                  <a:tcPr marL="73152" marR="73152" marT="27432" marB="27432"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55080" y="4114800"/>
            <a:ext cx="5349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Percent, on 25,000 test reviews. Chart axis does not start at zero.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434840"/>
            <a:ext cx="534924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6375" indent="-206375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	Highest: Deep Neural Network (MLP) (89.48%)</a:t>
            </a:r>
          </a:p>
          <a:p>
            <a:pPr algn="l" marL="206375" indent="-206375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	Top three within 0.25 points — one run each, so effectively tied</a:t>
            </a:r>
          </a:p>
          <a:p>
            <a:pPr algn="l" marL="206375" indent="-206375"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	Weakest: Gradient Boosting (84.41%)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1B4B"/>
                </a:solidFill>
                <a:latin typeface="Segoe UI"/>
              </a:rPr>
              <a:t>Application interface and demo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0584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CineSentinel AI  ·  UE24CS352A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pic>
        <p:nvPicPr>
          <p:cNvPr id="7" name="Picture 6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977639" cy="2487168"/>
          </a:xfrm>
          <a:prstGeom prst="rect">
            <a:avLst/>
          </a:prstGeom>
          <a:ln w="12700">
            <a:solidFill>
              <a:srgbClr val="C7D2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3895344"/>
            <a:ext cx="397763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Live Sentiment Analyzer</a:t>
            </a:r>
          </a:p>
        </p:txBody>
      </p:sp>
      <p:pic>
        <p:nvPicPr>
          <p:cNvPr id="9" name="Picture 8" descr="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1371600"/>
            <a:ext cx="3977639" cy="2487168"/>
          </a:xfrm>
          <a:prstGeom prst="rect">
            <a:avLst/>
          </a:prstGeom>
          <a:ln w="12700">
            <a:solidFill>
              <a:srgbClr val="C7D2F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709159" y="3895344"/>
            <a:ext cx="397763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Model Comparison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280160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Five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737360"/>
            <a:ext cx="283464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6375" indent="-206375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	Home / overview</a:t>
            </a:r>
          </a:p>
          <a:p>
            <a:pPr algn="l" marL="206375" indent="-206375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	Live Sentiment Analyzer</a:t>
            </a:r>
          </a:p>
          <a:p>
            <a:pPr algn="l" marL="206375" indent="-206375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	Model Comparison Lab</a:t>
            </a:r>
          </a:p>
          <a:p>
            <a:pPr algn="l" marL="206375" indent="-206375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	Batch Prediction Studio</a:t>
            </a:r>
          </a:p>
          <a:p>
            <a:pPr algn="l" marL="206375" indent="-206375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	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Demo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73168"/>
            <a:ext cx="1106424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06375" indent="-206375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1.	Home: dataset statistics and the measured leaderboard</a:t>
            </a:r>
          </a:p>
          <a:p>
            <a:pPr algn="l" marL="206375" indent="-206375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2.	Live analyzer: paste a review, pick a model, compare all six verdicts and see any disagreement</a:t>
            </a:r>
          </a:p>
          <a:p>
            <a:pPr algn="l" marL="206375" indent="-206375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3.	Comparison lab: metrics, confusion matrices, ROC curves, training time</a:t>
            </a:r>
          </a:p>
          <a:p>
            <a:pPr algn="l" marL="206375" indent="-206375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4.	Batch studio: upload a CSV, score it, download the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1B4B"/>
                </a:solidFill>
                <a:latin typeface="Segoe UI"/>
              </a:rPr>
              <a:t>Conclusion, limitations and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0584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CineSentinel AI  ·  UE24CS352A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39319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00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All six classifiers implemented, trained and evaluated on the official test split</a:t>
            </a:r>
          </a:p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Linear models and the neural network reach about 89% accuracy</a:t>
            </a:r>
          </a:p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A linear model gives the best balance of accuracy, training time and interpretability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566160" cy="39319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5087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200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Not an exact reproduction of the paper (1–2-grams, not 3-grams)</a:t>
            </a:r>
          </a:p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One training run per model — no confidence intervals</a:t>
            </a:r>
          </a:p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Bag-of-words features ignore word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566160" cy="39319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50876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D4AF0"/>
                </a:solidFill>
                <a:latin typeface="Segoe UI"/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011680"/>
            <a:ext cx="3200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Repeat runs over several seeds</a:t>
            </a:r>
          </a:p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Tune the tree ensembles further</a:t>
            </a:r>
          </a:p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Binary and word-count features for all six models</a:t>
            </a:r>
          </a:p>
          <a:p>
            <a:pPr algn="l" marL="238125" indent="-238125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	Sequence models: RNN, transformer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Learning-Based Classification for Sentiment Analysis of IMDb Reviews</dc:title>
  <dc:subject>UE24CS352A — Machine Learning</dc:subject>
  <dc:creator>CineSentinel AI project team</dc:creator>
  <cp:keywords/>
  <dc:description>generated using python-pptx</dc:description>
  <cp:lastModifiedBy>CineSentinel AI project team</cp:lastModifiedBy>
  <cp:revision>1</cp:revision>
  <dcterms:created xsi:type="dcterms:W3CDTF">2013-01-27T09:14:16Z</dcterms:created>
  <dcterms:modified xsi:type="dcterms:W3CDTF">2013-01-27T09:15:58Z</dcterms:modified>
  <cp:category/>
</cp:coreProperties>
</file>